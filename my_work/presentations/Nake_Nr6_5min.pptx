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2" r:id="rId7"/>
    <p:sldId id="259" r:id="rId8"/>
    <p:sldId id="260" r:id="rId9"/>
    <p:sldId id="261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 everyone. Today, I want to present a landmark piece created in 1965 by Frieder Nake, titled simply: Nr. 6.</a:t>
            </a:r>
          </a:p>
          <a:p/>
          <a:p>
            <a:r>
              <a:t>Frieder Nake is a German mathematician, computer scientist, and one of the absolute pioneers of digital art. Back in November 1965, he and Georg Nees curated a show called computer grafik in Stuttgart. This wasn't just another gallery opening—it was historically one of the very first public exhibitions of computer-generated art in Europe.</a:t>
            </a:r>
          </a:p>
          <a:p/>
          <a:p>
            <a:r>
              <a:t>The work Nr. 6 is a precise, black-and-white plotter drawing on paper. At first glance, it looks like a clean, abstract grid of geometric lines and square blocks. But its true significance lies in how and why it was constructed through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Frieder Nake is a German mathematician, computer scientist, and one of the absolute pioneers of digital art. Back in November 1965, he and Georg Nees curated a show called computer grafik in Stuttgart. This wasn't just another gallery opening—it was historically one of the very first public exhibitions of computer-generated art in Europe.</a:t>
            </a:r>
          </a:p>
          <a:p/>
          <a:p>
            <a:r>
              <a:t>The work Nr. 6 is a precise, black-and-white plotter drawing on paper. At first glance, it looks like a clean, abstract grid of geometric lines and square blocks. But its true significance lies in how and why it was constructed through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really understand Nr. 6, we have to step into the atmosphere of 1965. This was the height of the Cold War, and computers weren't personal creative tools—they were massive military-industrial assets used for trajectory calculations and control systems.</a:t>
            </a:r>
          </a:p>
          <a:p/>
          <a:p>
            <a:r>
              <a:t>What fascinated me when studying this period is how Cybernetics—the science of feedback, information, and self-regulating systems—was reshaping how people thought about control. At the same time, post-war Germany was deeply haunted by World War II, asking how to protect society from emotional propaganda and fascism.</a:t>
            </a:r>
          </a:p>
          <a:p/>
          <a:p>
            <a:r>
              <a:t>Nake’s mentor, philosopher Max Bense, synthesized these ideas into 'Information Aesthetics.' Influenced by cybernetic theory, Bense argued that beauty could be scientifically measured and generated through autonomous systems. He famously stated: 'Rationality is humanity's first defense against fascism.'</a:t>
            </a:r>
          </a:p>
          <a:p/>
          <a:p>
            <a:r>
              <a:t>So when Nake took a cold-war calculating machine and programmed it to generate art through cybernetic feedback logic, it was a profound act. He was reclaiming technology from military control, stripping away dangerous emotional manipulation, and replacing it with pure, neutral, mathematical rationality.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really understand Nr. 6, we have to step into the atmosphere of 1965. This was the height of the Cold War, and computers weren't personal creative tools—they were massive military-industrial assets used for trajectory calculations and control systems.</a:t>
            </a:r>
          </a:p>
          <a:p/>
          <a:p>
            <a:r>
              <a:t>What fascinated me when studying this period is how Cybernetics—the science of feedback, information, and self-regulating systems—was reshaping how people thought about control. At the same time, post-war Germany was deeply haunted by World War II, asking how to protect society from emotional propaganda and fascism.</a:t>
            </a:r>
          </a:p>
          <a:p/>
          <a:p>
            <a:r>
              <a:t>Nake’s mentor, philosopher Max Bense, synthesized these ideas into 'Information Aesthetics.' Influenced by cybernetic theory, Bense argued that beauty could be scientifically measured and generated through autonomous systems. He famously stated: 'Rationality is humanity's first defense against fascism.'</a:t>
            </a:r>
          </a:p>
          <a:p/>
          <a:p>
            <a:r>
              <a:t>So when Nake took a cold-war calculating machine and programmed it to generate art through cybernetic feedback logic, it was a profound act. He was reclaiming technology from military control, stripping away dangerous emotional manipulation, and replacing it with pure, neutral, mathematical rationality.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Now, let’s look at the algorithm itself. If you wanted to recreate Nr. 6 today, here is the exact 4-step procedure Nake designed:</a:t>
            </a:r>
          </a:p>
          <a:p/>
          <a:p>
            <a:r>
              <a:t>Step 1: Define the Grid. Construct a standard 2D grid matrix across a blank canvas, like an empty chessboard.</a:t>
            </a:r>
          </a:p>
          <a:p>
            <a:r>
              <a:t>Step 2: Establish a Symbol Palette. Create a library of basic geometric primitives—horizontal lines, vertical strokes, diagonal lines, and square blocks.</a:t>
            </a:r>
          </a:p>
          <a:p>
            <a:r>
              <a:t>Step 3: Probabilistic Evaluation. As the algorithm traverses through each cell, it doesn't place shapes arbitrarily. It uses a pseudo-random number generator bounded by a precise probability matrix. High probability values yield dense, clustered lines; zero probability leaves clean, negative space.</a:t>
            </a:r>
          </a:p>
          <a:p>
            <a:r>
              <a:t>Step 4: Mechanical Execution. The computer exports these calculated coordinates directly to a Zuse Z64 Graphomat plotter, where a mechanical arm holds an ink pen to draw the final piece.</a:t>
            </a:r>
          </a:p>
          <a:p/>
          <a:p>
            <a:r>
              <a:t>If a stranger executes this same procedure with Nake's probability matrix, they will yield a drawing structurally identical in language, yet unique in its probabilistic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chose Frieder Nake and Nr. 6 because I’ve always been deeply interested in Cybernetics—specifically, how systems operate when control is shared or ceded. Nr. 6 marks the exact historical moment when artists stopped treating the computer as a passive tool, and began designing autonomous cybernetic systems.</a:t>
            </a:r>
          </a:p>
          <a:p/>
          <a:p>
            <a:r>
              <a:t>As Philip Galanter highlights in generative art theory, Nake didn't draw the picture—he designed the rulebook and ceded control to the system and probability. He became a meta-designer.</a:t>
            </a:r>
          </a:p>
          <a:p/>
          <a:p>
            <a:r>
              <a:t>This directly feeds into my own research direction in More-than-Human Design. I am exploring how we can integrate non-human agency—whether that’s computational rules, game simulation mechanics, or environmental feedback loops—into embodied spatial narratives. Looking back at Nr. 6 reminds us that algorithms aren't just cold code. When we treat generative systems as active agents in a cybernetic feedback loop, we open up a dialogue between human intent and non-human agency.</a:t>
            </a:r>
          </a:p>
          <a:p/>
          <a:p>
            <a:r>
              <a:t>Nr. 6 proved 60 years ago that rationality, system rules, and code can be liberating, poetic, and profoundly human.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Nr. 6 proved 60 years ago that rationality, system rules, and code can be liberating, poetic, and profoundly human.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141732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01584" y="141732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1584" y="146761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1584" y="151790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1584" y="156819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39328" y="141732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7072" y="141732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27364" y="143732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77656" y="143732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27948" y="143732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14816" y="141732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34816" y="146761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4816" y="151790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34816" y="156819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41732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90304" y="141732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28048" y="141732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78340" y="143732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28632" y="143732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78924" y="143732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1655064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14132" y="167506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64424" y="167506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4716" y="167506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4" y="1655064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1584" y="170535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1584" y="175564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1584" y="180594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39328" y="1655064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77072" y="1655064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14816" y="1655064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5108" y="167506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167506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65692" y="167506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60" y="1655064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72560" y="170535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72560" y="175564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72560" y="180594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90304" y="1655064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8048" y="1655064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63840" y="1892808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01584" y="1892808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39328" y="1892808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59328" y="194310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59328" y="199339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59328" y="204368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77072" y="1892808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27364" y="191280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77656" y="191280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27948" y="191280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14816" y="1892808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2560" y="1892808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72560" y="194310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72560" y="199339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72560" y="204368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90304" y="1892808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40596" y="191280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90888" y="191280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41180" y="191280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28048" y="1892808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63840" y="2130552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3840" y="218084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883840" y="223113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83840" y="228142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01584" y="2130552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339328" y="2130552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89620" y="215055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39912" y="215055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90204" y="215055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577072" y="2130552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814816" y="2130552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52560" y="2130552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90304" y="2130552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10304" y="218084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310304" y="223113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10304" y="228142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28048" y="2130552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78340" y="215055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28632" y="215055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678924" y="215055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63840" y="2368296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101584" y="2368296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51876" y="238829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02168" y="238829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52460" y="238829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39328" y="2368296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59328" y="241858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59328" y="246888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59328" y="251917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577072" y="2368296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814816" y="2368296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865108" y="238829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915400" y="238829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965692" y="238829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52560" y="2368296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290304" y="2368296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528048" y="2368296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48048" y="241858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548048" y="246888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548048" y="251917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863840" y="260604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883840" y="265633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83840" y="270662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883840" y="275691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01584" y="260604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339328" y="260604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77072" y="260604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627364" y="262604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77656" y="262604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727948" y="262604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814816" y="260604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834816" y="265633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834816" y="270662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834816" y="275691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052560" y="260604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102852" y="262604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153144" y="262604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03436" y="262604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290304" y="260604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528048" y="260604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0080" y="169164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41414"/>
                </a:solidFill>
                <a:latin typeface="Calibri"/>
              </a:rPr>
              <a:t>Frieder Nake</a:t>
            </a:r>
            <a:endParaRPr sz="54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40080" y="306324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>
                <a:solidFill>
                  <a:srgbClr val="141414"/>
                </a:solidFill>
                <a:latin typeface="Calibri"/>
              </a:rPr>
              <a:t>Nr. 6</a:t>
            </a:r>
            <a:endParaRPr sz="3600" b="0" i="1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640080" y="3840480"/>
            <a:ext cx="2926080" cy="12700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0080" y="40690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1965  ·  plotter drawing  ·  computer grafik, Stuttgart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  <p:pic>
        <p:nvPicPr>
          <p:cNvPr id="128" name="图片 127" descr="Screenshot 2026-09-09 at 10.29.36"/>
          <p:cNvPicPr>
            <a:picLocks noChangeAspect="1"/>
          </p:cNvPicPr>
          <p:nvPr/>
        </p:nvPicPr>
        <p:blipFill>
          <a:blip r:embed="rId1"/>
          <a:srcRect b="2574"/>
          <a:stretch>
            <a:fillRect/>
          </a:stretch>
        </p:blipFill>
        <p:spPr>
          <a:xfrm>
            <a:off x="6548120" y="904875"/>
            <a:ext cx="5118100" cy="504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Calibri"/>
              </a:rPr>
              <a:t>Who he is, and the work</a:t>
            </a:r>
            <a:endParaRPr sz="32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645920" cy="12700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Calibri"/>
              </a:rPr>
              <a:t>Artist</a:t>
            </a:r>
            <a:endParaRPr sz="16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68880" y="1691640"/>
            <a:ext cx="605409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Frieder Nake — German mathematician, computer scientist, pioneer of digital art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Calibri"/>
              </a:rPr>
              <a:t>Moment</a:t>
            </a:r>
            <a:endParaRPr sz="16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605409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November 1965: computer grafik, Stuttgart, with Georg Nees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Calibri"/>
              </a:rPr>
              <a:t>History</a:t>
            </a:r>
            <a:endParaRPr sz="16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68880" y="3429000"/>
            <a:ext cx="755459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One of the first public exhibitions of computer-generated art in Europe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Calibri"/>
              </a:rPr>
              <a:t>Work</a:t>
            </a:r>
            <a:endParaRPr sz="16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68880" y="429768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Nr. 6 — black-and-white plotter drawing: grids, lines, square blocks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Calibri"/>
              </a:rPr>
              <a:t>Claim</a:t>
            </a:r>
            <a:endParaRPr sz="16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68880" y="516636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Significance is not the look — it is how and why it was constructed through code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  <p:pic>
        <p:nvPicPr>
          <p:cNvPr id="16" name="图片 15" descr="Screenshot 2026-09-09 at 10.31.56"/>
          <p:cNvPicPr>
            <a:picLocks noChangeAspect="1"/>
          </p:cNvPicPr>
          <p:nvPr/>
        </p:nvPicPr>
        <p:blipFill>
          <a:blip r:embed="rId1"/>
          <a:srcRect l="7810"/>
          <a:stretch>
            <a:fillRect/>
          </a:stretch>
        </p:blipFill>
        <p:spPr>
          <a:xfrm>
            <a:off x="8468995" y="863600"/>
            <a:ext cx="3143885" cy="2348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Calibri"/>
              </a:rPr>
              <a:t>1965, cybernetics, information aesthetics</a:t>
            </a:r>
            <a:endParaRPr sz="30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645920" cy="12700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Calibri"/>
              </a:rPr>
              <a:t>Cold War machine</a:t>
            </a:r>
            <a:endParaRPr sz="18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A6660"/>
                </a:solidFill>
                <a:latin typeface="Calibri"/>
              </a:rPr>
              <a:t>Computers were not personal creative tools. They were military-industrial assets — trajectory, control, calculation.</a:t>
            </a:r>
            <a:endParaRPr sz="15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4840" y="169164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Calibri"/>
              </a:rPr>
              <a:t>Cybernetics</a:t>
            </a:r>
            <a:endParaRPr sz="18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A6660"/>
                </a:solidFill>
                <a:latin typeface="Calibri"/>
              </a:rPr>
              <a:t>Feedback, information, self-regulating systems. Control is shared, observed, and redesigned.</a:t>
            </a:r>
            <a:endParaRPr sz="15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29600" y="169164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745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Calibri"/>
              </a:rPr>
              <a:t>Post-war Germany</a:t>
            </a:r>
            <a:endParaRPr sz="18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58200" y="2331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A6660"/>
                </a:solidFill>
                <a:latin typeface="Calibri"/>
              </a:rPr>
              <a:t>How to protect society from emotional propaganda and fascism. Rationality as a civic defence.</a:t>
            </a:r>
            <a:endParaRPr sz="15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10881360" cy="1965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7F5F0"/>
                </a:solidFill>
                <a:latin typeface="Calibri"/>
              </a:rPr>
              <a:t>“Rationality is humanity's first defense against fascism.”</a:t>
            </a:r>
            <a:endParaRPr sz="2200" b="0" i="1">
              <a:solidFill>
                <a:srgbClr val="F7F5F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2B8"/>
                </a:solidFill>
                <a:latin typeface="Calibri"/>
              </a:rPr>
              <a:t>Max Bense → Information Aesthetics: beauty measured and generated through autonomous systems.
Nake reclaims the calculating machine — military control out; mathematical rationality in.</a:t>
            </a:r>
            <a:endParaRPr sz="1500" b="0" i="0">
              <a:solidFill>
                <a:srgbClr val="C8C2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图片 2" descr="Cybernet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05" y="666750"/>
            <a:ext cx="4445000" cy="5524500"/>
          </a:xfrm>
          <a:prstGeom prst="rect">
            <a:avLst/>
          </a:prstGeom>
        </p:spPr>
      </p:pic>
      <p:pic>
        <p:nvPicPr>
          <p:cNvPr id="18" name="图片 17" descr="images"/>
          <p:cNvPicPr>
            <a:picLocks noChangeAspect="1"/>
          </p:cNvPicPr>
          <p:nvPr/>
        </p:nvPicPr>
        <p:blipFill>
          <a:blip r:embed="rId2"/>
          <a:srcRect l="10136" r="22148" b="6002"/>
          <a:stretch>
            <a:fillRect/>
          </a:stretch>
        </p:blipFill>
        <p:spPr>
          <a:xfrm>
            <a:off x="5755640" y="1249045"/>
            <a:ext cx="5600065" cy="4360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" name="图片 21" descr="Screenshot 2026-09-09 at 10.48.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0020" y="-125095"/>
            <a:ext cx="12351385" cy="8341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Calibri"/>
              </a:rPr>
              <a:t>The procedure — four steps</a:t>
            </a:r>
            <a:endParaRPr sz="32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645920" cy="12700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922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6660"/>
                </a:solidFill>
                <a:latin typeface="Calibri"/>
              </a:rPr>
              <a:t>01</a:t>
            </a:r>
            <a:endParaRPr sz="12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20299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Calibri"/>
              </a:rPr>
              <a:t>Define the grid</a:t>
            </a:r>
            <a:endParaRPr sz="18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450592"/>
            <a:ext cx="4992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6660"/>
                </a:solidFill>
                <a:latin typeface="Calibri"/>
              </a:rPr>
              <a:t>A 2D matrix across a blank canvas — an empty chessboard.</a:t>
            </a:r>
            <a:endParaRPr sz="14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922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6660"/>
                </a:solidFill>
                <a:latin typeface="Calibri"/>
              </a:rPr>
              <a:t>02</a:t>
            </a:r>
            <a:endParaRPr sz="12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0528" y="20299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Calibri"/>
              </a:rPr>
              <a:t>Symbol palette</a:t>
            </a:r>
            <a:endParaRPr sz="18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2"/>
            <a:ext cx="4992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6660"/>
                </a:solidFill>
                <a:latin typeface="Calibri"/>
              </a:rPr>
              <a:t>Primitives: horizontal, vertical, diagonal lines, and square blocks.</a:t>
            </a:r>
            <a:endParaRPr sz="14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7581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6660"/>
                </a:solidFill>
                <a:latin typeface="Calibri"/>
              </a:rPr>
              <a:t>03</a:t>
            </a:r>
            <a:endParaRPr sz="12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8" y="3995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Calibri"/>
              </a:rPr>
              <a:t>Probabilistic evaluation</a:t>
            </a:r>
            <a:endParaRPr sz="18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" y="4416552"/>
            <a:ext cx="4992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6660"/>
                </a:solidFill>
                <a:latin typeface="Calibri"/>
              </a:rPr>
              <a:t>Each cell is placed by a pseudo-random generator bounded by a probability matrix. High density vs. empty space.</a:t>
            </a:r>
            <a:endParaRPr sz="14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9360" y="361188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995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Calibri"/>
              </a:rPr>
              <a:t>Mechanical execution</a:t>
            </a:r>
            <a:endParaRPr sz="18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0528" y="4416552"/>
            <a:ext cx="4992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6660"/>
                </a:solidFill>
                <a:latin typeface="Calibri"/>
              </a:rPr>
              <a:t>Coordinates go to a Zuse Z64 Graphomat. A mechanical arm holds an ink pen.</a:t>
            </a:r>
            <a:endParaRPr sz="1400" b="0" i="0">
              <a:solidFill>
                <a:srgbClr val="6A666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Calibri"/>
              </a:rPr>
              <a:t>Why this work</a:t>
            </a:r>
            <a:endParaRPr sz="32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645920" cy="12700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1414"/>
                </a:solidFill>
                <a:latin typeface="Calibri"/>
              </a:rPr>
              <a:t>Cede control</a:t>
            </a:r>
            <a:endParaRPr sz="20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31920" y="1645920"/>
            <a:ext cx="768032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Nake does not draw the picture. He designs the rulebook and hands execution to system + probability. (Galanter: generative art / meta-designer)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1414"/>
                </a:solidFill>
                <a:latin typeface="Calibri"/>
              </a:rPr>
              <a:t>Cybernetic moment</a:t>
            </a:r>
            <a:endParaRPr sz="20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31920" y="2743200"/>
            <a:ext cx="76803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The computer stops being a passive tool and becomes an autonomous system. Control is shared.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1414"/>
                </a:solidFill>
                <a:latin typeface="Calibri"/>
              </a:rPr>
              <a:t>More-than-human design</a:t>
            </a:r>
            <a:endParaRPr sz="20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31920" y="3840480"/>
            <a:ext cx="76803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Non-human agency — computational rules, simulation, environmental feedback — enters embodied spatial narrative.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1414"/>
                </a:solidFill>
                <a:latin typeface="Calibri"/>
              </a:rPr>
              <a:t>The closing claim</a:t>
            </a:r>
            <a:endParaRPr sz="20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1920" y="4937760"/>
            <a:ext cx="76803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Algorithms are not only cold code. Rationality, rules, and code can be liberating, poetic, and human.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7863840" y="155448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01584" y="155448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1584" y="160477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1584" y="165506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1584" y="170535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39328" y="155448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7072" y="155448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27364" y="157448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77656" y="157448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27948" y="157448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14816" y="155448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34816" y="160477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4816" y="165506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34816" y="170535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55448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90304" y="155448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28048" y="155448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78340" y="157448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28632" y="157448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78924" y="157448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1792224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14132" y="181222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64424" y="181222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4716" y="181222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4" y="1792224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1584" y="184251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1584" y="189280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1584" y="194310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39328" y="1792224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77072" y="1792224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14816" y="1792224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5108" y="181222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181222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65692" y="1812224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60" y="1792224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72560" y="184251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72560" y="189280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72560" y="194310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90304" y="1792224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8048" y="1792224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63840" y="2029968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01584" y="2029968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39328" y="2029968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59328" y="208026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59328" y="213055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59328" y="218084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77072" y="2029968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27364" y="204996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77656" y="204996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27948" y="204996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14816" y="2029968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2560" y="2029968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72560" y="208026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72560" y="213055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72560" y="218084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90304" y="2029968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40596" y="204996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90888" y="204996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41180" y="2049968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28048" y="2029968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63840" y="2267712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83840" y="231800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883840" y="236829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83840" y="241858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01584" y="2267712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339328" y="2267712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89620" y="228771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39912" y="228771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90204" y="228771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577072" y="2267712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814816" y="2267712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52560" y="2267712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90304" y="2267712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10304" y="231800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310304" y="236829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10304" y="241858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28048" y="2267712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78340" y="228771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28632" y="228771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678924" y="2287712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63840" y="2505456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101584" y="2505456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51876" y="252545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02168" y="252545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52460" y="252545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39328" y="2505456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59328" y="255574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59328" y="260604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59328" y="265633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577072" y="2505456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814816" y="2505456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865108" y="252545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915400" y="252545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965692" y="2525456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52560" y="2505456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290304" y="2505456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528048" y="2505456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48048" y="2555748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548048" y="2606040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548048" y="265633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863840" y="274320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883840" y="279349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83840" y="284378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883840" y="289407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01584" y="274320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339328" y="274320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77072" y="274320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627364" y="276320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77656" y="276320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727948" y="276320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814816" y="274320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834816" y="2793492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834816" y="2843784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834816" y="2894076"/>
            <a:ext cx="161168" cy="9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052560" y="2743200"/>
            <a:ext cx="201168" cy="201168"/>
          </a:xfrm>
          <a:prstGeom prst="rect">
            <a:avLst/>
          </a:prstGeom>
          <a:solidFill>
            <a:srgbClr val="F7F5F0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102852" y="276320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153144" y="276320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03436" y="2763200"/>
            <a:ext cx="9000" cy="16116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290304" y="274320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528048" y="2743200"/>
            <a:ext cx="201168" cy="201168"/>
          </a:xfrm>
          <a:prstGeom prst="rect">
            <a:avLst/>
          </a:prstGeom>
          <a:noFill/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" y="201168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41414"/>
                </a:solidFill>
                <a:latin typeface="Calibri"/>
              </a:rPr>
              <a:t>Thank you</a:t>
            </a:r>
            <a:endParaRPr sz="5400" b="1" i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640080" y="3200400"/>
            <a:ext cx="2194560" cy="12700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0080" y="3474720"/>
            <a:ext cx="69494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660"/>
                </a:solidFill>
                <a:latin typeface="Calibri"/>
              </a:rPr>
              <a:t>Frieder Nake  ·  Nr. 6  ·  1965
</a:t>
            </a:r>
            <a:endParaRPr sz="1800" b="0" i="0">
              <a:solidFill>
                <a:srgbClr val="6A666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2089</Words>
  <Application>WPS 演示</Application>
  <PresentationFormat>On-screen Show (4:3)</PresentationFormat>
  <Paragraphs>92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何</cp:lastModifiedBy>
  <cp:revision>3</cp:revision>
  <dcterms:created xsi:type="dcterms:W3CDTF">2026-09-09T02:50:54Z</dcterms:created>
  <dcterms:modified xsi:type="dcterms:W3CDTF">2026-09-09T02:50:54Z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F4754BA4089FF9BE6DC8A06A8D7DB864_42</vt:lpwstr>
  </property>
  <property fmtid="{D5CDD505-2E9C-101B-9397-08002B2CF9AE}" pid="3" name="KSOProductBuildVer">
    <vt:lpwstr>2052-12.1.23540.23540</vt:lpwstr>
  </property>
</Properties>
</file>